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7bd607c31dd8d655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7bd607c31dd8d655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bd607c31dd8d655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7bd607c31dd8d655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5ba5cd556e6ce80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5ba5cd556e6ce80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93386df05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93386df05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93386df05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93386df05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93386df05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93386df05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93386df05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93386df05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93386df05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93386df05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93386df059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93386df05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93386df05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93386df05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93386df059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93386df059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93386df059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93386df059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93386df05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93386df05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noopurs@iiitm.ac.in" TargetMode="External"/><Relationship Id="rId4" Type="http://schemas.openxmlformats.org/officeDocument/2006/relationships/image" Target="../media/image1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1" Type="http://schemas.openxmlformats.org/officeDocument/2006/relationships/image" Target="../media/image22.png"/><Relationship Id="rId10" Type="http://schemas.openxmlformats.org/officeDocument/2006/relationships/image" Target="../media/image23.png"/><Relationship Id="rId9" Type="http://schemas.openxmlformats.org/officeDocument/2006/relationships/image" Target="../media/image18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156850"/>
            <a:ext cx="9144000" cy="97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50">
                <a:latin typeface="Times New Roman"/>
                <a:ea typeface="Times New Roman"/>
                <a:cs typeface="Times New Roman"/>
                <a:sym typeface="Times New Roman"/>
              </a:rPr>
              <a:t>MUSIC GENRE CLASSIFICATION USING CONVOLUTIONAL RECURRENT NEURAL NETWORKS</a:t>
            </a:r>
            <a:endParaRPr sz="28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93300" y="3659614"/>
            <a:ext cx="8520600" cy="12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Noopur Srivastava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(Research Scholar)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noopurs@iiitm.ac.in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(Paper ID - 72)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Atal Bihari Vajpayee Indian Institute of Information Technology and Management,  Gwalior </a:t>
            </a:r>
            <a:endParaRPr sz="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b="0" l="0" r="2267" t="0"/>
          <a:stretch/>
        </p:blipFill>
        <p:spPr>
          <a:xfrm>
            <a:off x="3777225" y="1129750"/>
            <a:ext cx="1589549" cy="23739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0" y="4144173"/>
            <a:ext cx="9144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0"/>
            <a:ext cx="8520600" cy="86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sz="4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327425" y="1546850"/>
            <a:ext cx="8520600" cy="3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Work-Flow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Experiments and Results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4" name="Google Shape;64;p14"/>
          <p:cNvCxnSpPr/>
          <p:nvPr/>
        </p:nvCxnSpPr>
        <p:spPr>
          <a:xfrm>
            <a:off x="164675" y="4710950"/>
            <a:ext cx="88461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/>
        </p:nvSpPr>
        <p:spPr>
          <a:xfrm>
            <a:off x="125500" y="4743300"/>
            <a:ext cx="16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Noopur Srivastava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3403525" y="4710950"/>
            <a:ext cx="243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ABV IIITM Gwalior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8350475" y="4743300"/>
            <a:ext cx="66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/14</a:t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8218625" y="4710950"/>
            <a:ext cx="21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ctrTitle"/>
          </p:nvPr>
        </p:nvSpPr>
        <p:spPr>
          <a:xfrm>
            <a:off x="311700" y="0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5"/>
          <p:cNvSpPr txBox="1"/>
          <p:nvPr>
            <p:ph idx="1" type="subTitle"/>
          </p:nvPr>
        </p:nvSpPr>
        <p:spPr>
          <a:xfrm>
            <a:off x="311700" y="841550"/>
            <a:ext cx="8520600" cy="40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-3462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5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Music </a:t>
            </a:r>
            <a:r>
              <a:rPr lang="en" sz="5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Genre Classification is one of the toughest task, and it is highly demanded now a days.</a:t>
            </a:r>
            <a:endParaRPr sz="5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2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5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It's Classification can be done manually by experts, which is very costly economically.</a:t>
            </a:r>
            <a:endParaRPr sz="5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2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5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Basically, Music genre classification is the task of classifying</a:t>
            </a:r>
            <a:endParaRPr sz="5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audio clips into well defined music genres.</a:t>
            </a:r>
            <a:endParaRPr sz="5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2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5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GTZAN audio dataset was used, which is a benchmark dataset [5], and from this dataset, MFCC (Mel Frequency cepstral Coefficients) were extracted which are good representation of audio </a:t>
            </a:r>
            <a:r>
              <a:rPr lang="en" sz="5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data.</a:t>
            </a:r>
            <a:endParaRPr sz="5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2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5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Like image files, audio files too contain hierarchical structures. thus CNN can be introduced here.</a:t>
            </a:r>
            <a:endParaRPr sz="5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2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5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model uses CRNN (CNN + GRU, CNN + LSTM), which is more accurate than state-of-the-art models based on CNN , K-NN, GNN etc.</a:t>
            </a:r>
            <a:endParaRPr sz="5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8234325" y="4723500"/>
            <a:ext cx="29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98286"/>
            <a:ext cx="9144001" cy="45062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8202950" y="4748725"/>
            <a:ext cx="21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ctrTitle"/>
          </p:nvPr>
        </p:nvSpPr>
        <p:spPr>
          <a:xfrm>
            <a:off x="0" y="-196050"/>
            <a:ext cx="9144000" cy="102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latin typeface="Times New Roman"/>
                <a:ea typeface="Times New Roman"/>
                <a:cs typeface="Times New Roman"/>
                <a:sym typeface="Times New Roman"/>
              </a:rPr>
              <a:t>INTRODUCTION (CONTD…)</a:t>
            </a:r>
            <a:endParaRPr sz="4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6"/>
          <p:cNvSpPr txBox="1"/>
          <p:nvPr>
            <p:ph idx="1" type="subTitle"/>
          </p:nvPr>
        </p:nvSpPr>
        <p:spPr>
          <a:xfrm>
            <a:off x="311700" y="1284125"/>
            <a:ext cx="8520600" cy="3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.</a:t>
            </a:r>
            <a:endParaRPr sz="1700"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075" y="926525"/>
            <a:ext cx="1894525" cy="12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-7262" y="2297825"/>
            <a:ext cx="273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Fig.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Convolution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operation in CNN [2]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 rotWithShape="1">
          <a:blip r:embed="rId4">
            <a:alphaModFix/>
          </a:blip>
          <a:srcRect b="14786" l="23000" r="0" t="6813"/>
          <a:stretch/>
        </p:blipFill>
        <p:spPr>
          <a:xfrm>
            <a:off x="137300" y="2729625"/>
            <a:ext cx="2536900" cy="117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90238" y="3965325"/>
            <a:ext cx="237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Fig.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Pooling operation in CNN [3]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41175" y="832350"/>
            <a:ext cx="4705074" cy="12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4524925" y="2282375"/>
            <a:ext cx="361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Fig.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An unrolled loop in RNN [7].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92500" y="2729625"/>
            <a:ext cx="4853776" cy="117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/>
          <p:nvPr/>
        </p:nvSpPr>
        <p:spPr>
          <a:xfrm>
            <a:off x="3915500" y="4006075"/>
            <a:ext cx="455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Fig.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Schematic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representation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of CRNN model [1]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4692861"/>
            <a:ext cx="9144001" cy="45062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/>
        </p:nvSpPr>
        <p:spPr>
          <a:xfrm>
            <a:off x="8214625" y="4743300"/>
            <a:ext cx="25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ctrTitle"/>
          </p:nvPr>
        </p:nvSpPr>
        <p:spPr>
          <a:xfrm>
            <a:off x="311700" y="0"/>
            <a:ext cx="8520600" cy="90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RESEARCH WORK-FLOW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7"/>
          <p:cNvSpPr txBox="1"/>
          <p:nvPr>
            <p:ph idx="1" type="subTitle"/>
          </p:nvPr>
        </p:nvSpPr>
        <p:spPr>
          <a:xfrm>
            <a:off x="311700" y="944200"/>
            <a:ext cx="8520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GTZAN dataset is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divided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training (80%) and testing subsets (20%).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subset is further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divided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training and validation subsets.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CRNN model is trained using training and validation subsets (total 80%), then resultant model’s performance is evaluated on test subset (20%).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Inputs to CRNN model were MFCCs,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capture power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spectrum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sound.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p17"/>
          <p:cNvPicPr preferRelativeResize="0"/>
          <p:nvPr/>
        </p:nvPicPr>
        <p:blipFill rotWithShape="1">
          <a:blip r:embed="rId3">
            <a:alphaModFix/>
          </a:blip>
          <a:srcRect b="35201" l="6430" r="8180" t="4035"/>
          <a:stretch/>
        </p:blipFill>
        <p:spPr>
          <a:xfrm>
            <a:off x="4418575" y="2331625"/>
            <a:ext cx="4576425" cy="18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/>
        </p:nvSpPr>
        <p:spPr>
          <a:xfrm>
            <a:off x="5434600" y="4239850"/>
            <a:ext cx="323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Fig.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MFCC derivation [3].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" name="Google Shape;102;p17"/>
          <p:cNvPicPr preferRelativeResize="0"/>
          <p:nvPr/>
        </p:nvPicPr>
        <p:blipFill rotWithShape="1">
          <a:blip r:embed="rId4">
            <a:alphaModFix/>
          </a:blip>
          <a:srcRect b="5204" l="0" r="0" t="0"/>
          <a:stretch/>
        </p:blipFill>
        <p:spPr>
          <a:xfrm>
            <a:off x="176450" y="2399225"/>
            <a:ext cx="4081849" cy="15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/>
        </p:nvSpPr>
        <p:spPr>
          <a:xfrm>
            <a:off x="176450" y="4187725"/>
            <a:ext cx="457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Fig.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Schematic representation of splitting dataset [6].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692175"/>
            <a:ext cx="9144001" cy="43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/>
        </p:nvSpPr>
        <p:spPr>
          <a:xfrm>
            <a:off x="8208575" y="474330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ctrTitle"/>
          </p:nvPr>
        </p:nvSpPr>
        <p:spPr>
          <a:xfrm>
            <a:off x="311700" y="0"/>
            <a:ext cx="8520600" cy="8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8"/>
          <p:cNvSpPr txBox="1"/>
          <p:nvPr>
            <p:ph idx="1" type="subTitle"/>
          </p:nvPr>
        </p:nvSpPr>
        <p:spPr>
          <a:xfrm>
            <a:off x="311700" y="1043000"/>
            <a:ext cx="8520600" cy="37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7973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Hypothesis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973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Convolutional Recurrent Neural Network model should utilize both spatial and temporal features and produce better results than Convolutional Neural Network model.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973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Description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973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GTZAN dataset, benchmark dataset for music genre classification was used.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973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GTZAN dataset provides us 100 music clips each with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 sec duration for 10 genres each.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92861"/>
            <a:ext cx="9144001" cy="45062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/>
        </p:nvSpPr>
        <p:spPr>
          <a:xfrm>
            <a:off x="8182775" y="4743300"/>
            <a:ext cx="30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ctrTitle"/>
          </p:nvPr>
        </p:nvSpPr>
        <p:spPr>
          <a:xfrm>
            <a:off x="311700" y="54900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METHODOLOGY(CONTD…)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07900"/>
            <a:ext cx="9144001" cy="43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>
            <p:ph idx="1" type="subTitle"/>
          </p:nvPr>
        </p:nvSpPr>
        <p:spPr>
          <a:xfrm>
            <a:off x="311700" y="941050"/>
            <a:ext cx="8520600" cy="3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Mechanism and model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306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processing the music clips, MFCCs with 23 coefficients was derived.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306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CRNN models were implemented viz.  				                	           CNN + GRU, CNN + LSTM, which take MFCCs as input.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306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Dropout rate was set to 10%, to avoid overfitting in RNN layers.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306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1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 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CRNN model, 2 GRU layers were used, whereas, for 2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CRNN model, 2 RNN-LSTM layers were used.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306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Reshape layer used for reshaping 3 dimensional CNN output as 2 dimensional input to RNN.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306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process the audio data and derive MFCC features, librosa was used, whereas, keras was used implement our model and train them.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8218600" y="472560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ctrTitle"/>
          </p:nvPr>
        </p:nvSpPr>
        <p:spPr>
          <a:xfrm>
            <a:off x="50900" y="-109775"/>
            <a:ext cx="89010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METHODOLOGY(CONTD…)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20"/>
          <p:cNvSpPr txBox="1"/>
          <p:nvPr>
            <p:ph idx="1" type="subTitle"/>
          </p:nvPr>
        </p:nvSpPr>
        <p:spPr>
          <a:xfrm>
            <a:off x="170550" y="577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">
                <a:solidFill>
                  <a:schemeClr val="dk1"/>
                </a:solidFill>
              </a:rPr>
              <a:t>.</a:t>
            </a:r>
            <a:endParaRPr sz="200">
              <a:solidFill>
                <a:schemeClr val="dk1"/>
              </a:solidFill>
            </a:endParaRPr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075" y="616700"/>
            <a:ext cx="8520600" cy="379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2880450" y="4345125"/>
            <a:ext cx="31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Fig.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Architecture  of CRNN model [7]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7625" y="4745325"/>
            <a:ext cx="9144001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ctrTitle"/>
          </p:nvPr>
        </p:nvSpPr>
        <p:spPr>
          <a:xfrm>
            <a:off x="0" y="0"/>
            <a:ext cx="9144000" cy="74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latin typeface="Times New Roman"/>
                <a:ea typeface="Times New Roman"/>
                <a:cs typeface="Times New Roman"/>
                <a:sym typeface="Times New Roman"/>
              </a:rPr>
              <a:t>EXPERIMENTS AND RESULTS</a:t>
            </a:r>
            <a:endParaRPr sz="4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21"/>
          <p:cNvSpPr txBox="1"/>
          <p:nvPr>
            <p:ph idx="1" type="subTitle"/>
          </p:nvPr>
        </p:nvSpPr>
        <p:spPr>
          <a:xfrm>
            <a:off x="256800" y="745500"/>
            <a:ext cx="8520600" cy="42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4485" lvl="0" marL="457200" rtl="0" algn="l">
              <a:spcBef>
                <a:spcPts val="0"/>
              </a:spcBef>
              <a:spcAft>
                <a:spcPts val="0"/>
              </a:spcAft>
              <a:buSzPts val="1510"/>
              <a:buFont typeface="Times New Roman"/>
              <a:buChar char="●"/>
            </a:pPr>
            <a:r>
              <a:rPr lang="en" sz="1510">
                <a:latin typeface="Times New Roman"/>
                <a:ea typeface="Times New Roman"/>
                <a:cs typeface="Times New Roman"/>
                <a:sym typeface="Times New Roman"/>
              </a:rPr>
              <a:t>Adam optimizer is used for controlling learning rate while training</a:t>
            </a:r>
            <a:endParaRPr sz="15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4485" lvl="0" marL="457200" rtl="0" algn="l">
              <a:spcBef>
                <a:spcPts val="0"/>
              </a:spcBef>
              <a:spcAft>
                <a:spcPts val="0"/>
              </a:spcAft>
              <a:buSzPts val="1510"/>
              <a:buFont typeface="Times New Roman"/>
              <a:buChar char="●"/>
            </a:pPr>
            <a:r>
              <a:rPr lang="en" sz="1510">
                <a:latin typeface="Times New Roman"/>
                <a:ea typeface="Times New Roman"/>
                <a:cs typeface="Times New Roman"/>
                <a:sym typeface="Times New Roman"/>
              </a:rPr>
              <a:t>Sparse categorical cross entropy </a:t>
            </a:r>
            <a:r>
              <a:rPr lang="en" sz="1510">
                <a:latin typeface="Times New Roman"/>
                <a:ea typeface="Times New Roman"/>
                <a:cs typeface="Times New Roman"/>
                <a:sym typeface="Times New Roman"/>
              </a:rPr>
              <a:t>is used as </a:t>
            </a:r>
            <a:r>
              <a:rPr lang="en" sz="1510">
                <a:latin typeface="Times New Roman"/>
                <a:ea typeface="Times New Roman"/>
                <a:cs typeface="Times New Roman"/>
                <a:sym typeface="Times New Roman"/>
              </a:rPr>
              <a:t>loss function while training.</a:t>
            </a:r>
            <a:endParaRPr sz="15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4485" lvl="0" marL="457200" rtl="0" algn="l">
              <a:spcBef>
                <a:spcPts val="0"/>
              </a:spcBef>
              <a:spcAft>
                <a:spcPts val="0"/>
              </a:spcAft>
              <a:buSzPts val="1510"/>
              <a:buFont typeface="Times New Roman"/>
              <a:buChar char="●"/>
            </a:pPr>
            <a:r>
              <a:rPr lang="en" sz="1510">
                <a:latin typeface="Times New Roman"/>
                <a:ea typeface="Times New Roman"/>
                <a:cs typeface="Times New Roman"/>
                <a:sym typeface="Times New Roman"/>
              </a:rPr>
              <a:t>Adam optimizer is an extension to stochastic gradient descent and it is based on the adaptive estimation of first order and second order moments.</a:t>
            </a:r>
            <a:endParaRPr sz="15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4485" lvl="0" marL="457200" rtl="0" algn="l">
              <a:spcBef>
                <a:spcPts val="0"/>
              </a:spcBef>
              <a:spcAft>
                <a:spcPts val="0"/>
              </a:spcAft>
              <a:buSzPts val="1510"/>
              <a:buFont typeface="Times New Roman"/>
              <a:buChar char="●"/>
            </a:pPr>
            <a:r>
              <a:rPr lang="en" sz="1510">
                <a:latin typeface="Times New Roman"/>
                <a:ea typeface="Times New Roman"/>
                <a:cs typeface="Times New Roman"/>
                <a:sym typeface="Times New Roman"/>
              </a:rPr>
              <a:t>Adam optimizer is a combination of RMSP and gradient descent with momentum algorithms.</a:t>
            </a:r>
            <a:endParaRPr sz="15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625" y="4745325"/>
            <a:ext cx="9144001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ctrTitle"/>
          </p:nvPr>
        </p:nvSpPr>
        <p:spPr>
          <a:xfrm>
            <a:off x="0" y="-94125"/>
            <a:ext cx="9144000" cy="7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40">
                <a:latin typeface="Times New Roman"/>
                <a:ea typeface="Times New Roman"/>
                <a:cs typeface="Times New Roman"/>
                <a:sym typeface="Times New Roman"/>
              </a:rPr>
              <a:t>EXPERIMENTS AND RESULTS (CONTD…)</a:t>
            </a:r>
            <a:endParaRPr sz="4180"/>
          </a:p>
        </p:txBody>
      </p:sp>
      <p:sp>
        <p:nvSpPr>
          <p:cNvPr id="143" name="Google Shape;143;p22"/>
          <p:cNvSpPr txBox="1"/>
          <p:nvPr>
            <p:ph idx="1" type="subTitle"/>
          </p:nvPr>
        </p:nvSpPr>
        <p:spPr>
          <a:xfrm>
            <a:off x="170525" y="481450"/>
            <a:ext cx="8520600" cy="36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" sz="2200">
                <a:solidFill>
                  <a:schemeClr val="dk1"/>
                </a:solidFill>
              </a:rPr>
              <a:t>Experiment 1</a:t>
            </a:r>
            <a:r>
              <a:rPr lang="en" sz="2200"/>
              <a:t>:</a:t>
            </a:r>
            <a:endParaRPr sz="2200"/>
          </a:p>
          <a:p>
            <a:pPr indent="-311785" lvl="0" marL="457200" rtl="0" algn="l">
              <a:spcBef>
                <a:spcPts val="0"/>
              </a:spcBef>
              <a:spcAft>
                <a:spcPts val="0"/>
              </a:spcAft>
              <a:buSzPts val="1310"/>
              <a:buFont typeface="Times New Roman"/>
              <a:buChar char="●"/>
            </a:pPr>
            <a:r>
              <a:rPr lang="en" sz="1310">
                <a:latin typeface="Times New Roman"/>
                <a:ea typeface="Times New Roman"/>
                <a:cs typeface="Times New Roman"/>
                <a:sym typeface="Times New Roman"/>
              </a:rPr>
              <a:t>CNN-GRU model was trained and tested using</a:t>
            </a:r>
            <a:endParaRPr sz="13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10">
                <a:latin typeface="Times New Roman"/>
                <a:ea typeface="Times New Roman"/>
                <a:cs typeface="Times New Roman"/>
                <a:sym typeface="Times New Roman"/>
              </a:rPr>
              <a:t> train and test subsets.</a:t>
            </a:r>
            <a:endParaRPr sz="13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785" lvl="0" marL="457200" rtl="0" algn="l">
              <a:spcBef>
                <a:spcPts val="0"/>
              </a:spcBef>
              <a:spcAft>
                <a:spcPts val="0"/>
              </a:spcAft>
              <a:buSzPts val="1310"/>
              <a:buFont typeface="Times New Roman"/>
              <a:buChar char="●"/>
            </a:pPr>
            <a:r>
              <a:rPr lang="en" sz="1310">
                <a:latin typeface="Times New Roman"/>
                <a:ea typeface="Times New Roman"/>
                <a:cs typeface="Times New Roman"/>
                <a:sym typeface="Times New Roman"/>
              </a:rPr>
              <a:t>CNN-GRU model achieved an accuracy of 85.7%.</a:t>
            </a:r>
            <a:endParaRPr sz="3100">
              <a:solidFill>
                <a:schemeClr val="dk1"/>
              </a:solidFill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5748325" y="4373700"/>
            <a:ext cx="334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Fig.</a:t>
            </a:r>
            <a:r>
              <a:rPr lang="en" sz="900"/>
              <a:t> Training vs Validation plots for accuracies and losses for            CNN-LSTM</a:t>
            </a:r>
            <a:endParaRPr sz="900"/>
          </a:p>
        </p:txBody>
      </p:sp>
      <p:pic>
        <p:nvPicPr>
          <p:cNvPr id="145" name="Google Shape;145;p22"/>
          <p:cNvPicPr preferRelativeResize="0"/>
          <p:nvPr/>
        </p:nvPicPr>
        <p:blipFill rotWithShape="1">
          <a:blip r:embed="rId3">
            <a:alphaModFix/>
          </a:blip>
          <a:srcRect b="2756" l="0" r="1283" t="1210"/>
          <a:stretch/>
        </p:blipFill>
        <p:spPr>
          <a:xfrm>
            <a:off x="5897314" y="2571750"/>
            <a:ext cx="3171586" cy="185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0400" y="3111005"/>
            <a:ext cx="2854650" cy="141992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/>
        </p:nvSpPr>
        <p:spPr>
          <a:xfrm>
            <a:off x="2610725" y="2571750"/>
            <a:ext cx="298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TABLE III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PRECISION, RECALL AND F1 SCORES OF 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CNN-GRU MODEL ON THE GENRES.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148" name="Google Shape;14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8402" y="481450"/>
            <a:ext cx="4710498" cy="185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/>
          <p:cNvSpPr txBox="1"/>
          <p:nvPr/>
        </p:nvSpPr>
        <p:spPr>
          <a:xfrm>
            <a:off x="4572000" y="2271738"/>
            <a:ext cx="2007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chemeClr val="dk1"/>
                </a:solidFill>
                <a:highlight>
                  <a:srgbClr val="FFFFFF"/>
                </a:highlight>
              </a:rPr>
              <a:t>Fig.</a:t>
            </a:r>
            <a:r>
              <a:rPr lang="en" sz="750">
                <a:solidFill>
                  <a:schemeClr val="dk1"/>
                </a:solidFill>
                <a:highlight>
                  <a:srgbClr val="FFFFFF"/>
                </a:highlight>
              </a:rPr>
              <a:t> Confusion matrix for CNN-GRU model</a:t>
            </a:r>
            <a:endParaRPr sz="1600"/>
          </a:p>
        </p:txBody>
      </p:sp>
      <p:pic>
        <p:nvPicPr>
          <p:cNvPr id="150" name="Google Shape;15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875" y="3023700"/>
            <a:ext cx="2574250" cy="150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17625" y="4745325"/>
            <a:ext cx="9144001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2994425"/>
            <a:ext cx="2671050" cy="153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60400" y="3111000"/>
            <a:ext cx="2854650" cy="141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58399" y="449075"/>
            <a:ext cx="4710500" cy="185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62825" y="2571750"/>
            <a:ext cx="3233500" cy="185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ctrTitle"/>
          </p:nvPr>
        </p:nvSpPr>
        <p:spPr>
          <a:xfrm>
            <a:off x="0" y="-94125"/>
            <a:ext cx="9144000" cy="7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40">
                <a:latin typeface="Times New Roman"/>
                <a:ea typeface="Times New Roman"/>
                <a:cs typeface="Times New Roman"/>
                <a:sym typeface="Times New Roman"/>
              </a:rPr>
              <a:t>EXPERIMENTS AND RESULTS (CONTD…)</a:t>
            </a:r>
            <a:endParaRPr sz="4180"/>
          </a:p>
        </p:txBody>
      </p:sp>
      <p:sp>
        <p:nvSpPr>
          <p:cNvPr id="161" name="Google Shape;161;p23"/>
          <p:cNvSpPr txBox="1"/>
          <p:nvPr>
            <p:ph idx="1" type="subTitle"/>
          </p:nvPr>
        </p:nvSpPr>
        <p:spPr>
          <a:xfrm>
            <a:off x="170525" y="481450"/>
            <a:ext cx="8520600" cy="36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" sz="2200">
                <a:solidFill>
                  <a:schemeClr val="dk1"/>
                </a:solidFill>
              </a:rPr>
              <a:t>Experiment 2</a:t>
            </a:r>
            <a:r>
              <a:rPr lang="en" sz="2200"/>
              <a:t>:</a:t>
            </a:r>
            <a:endParaRPr sz="2200"/>
          </a:p>
          <a:p>
            <a:pPr indent="-311785" lvl="0" marL="457200" rtl="0" algn="l">
              <a:spcBef>
                <a:spcPts val="0"/>
              </a:spcBef>
              <a:spcAft>
                <a:spcPts val="0"/>
              </a:spcAft>
              <a:buSzPts val="1310"/>
              <a:buFont typeface="Times New Roman"/>
              <a:buChar char="●"/>
            </a:pPr>
            <a:r>
              <a:rPr lang="en" sz="1310">
                <a:latin typeface="Times New Roman"/>
                <a:ea typeface="Times New Roman"/>
                <a:cs typeface="Times New Roman"/>
                <a:sym typeface="Times New Roman"/>
              </a:rPr>
              <a:t>CNN-LSTM model was trained and tested using</a:t>
            </a:r>
            <a:endParaRPr sz="13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10">
                <a:latin typeface="Times New Roman"/>
                <a:ea typeface="Times New Roman"/>
                <a:cs typeface="Times New Roman"/>
                <a:sym typeface="Times New Roman"/>
              </a:rPr>
              <a:t> train and test subsets.</a:t>
            </a:r>
            <a:endParaRPr sz="13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785" lvl="0" marL="457200" rtl="0" algn="l">
              <a:spcBef>
                <a:spcPts val="0"/>
              </a:spcBef>
              <a:spcAft>
                <a:spcPts val="0"/>
              </a:spcAft>
              <a:buSzPts val="1310"/>
              <a:buFont typeface="Times New Roman"/>
              <a:buChar char="●"/>
            </a:pPr>
            <a:r>
              <a:rPr lang="en" sz="1310">
                <a:latin typeface="Times New Roman"/>
                <a:ea typeface="Times New Roman"/>
                <a:cs typeface="Times New Roman"/>
                <a:sym typeface="Times New Roman"/>
              </a:rPr>
              <a:t>CNN-LSTM model achieved an accuracy of 87.5%.</a:t>
            </a:r>
            <a:endParaRPr sz="3100">
              <a:solidFill>
                <a:schemeClr val="dk1"/>
              </a:solidFill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5748325" y="4373700"/>
            <a:ext cx="334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Fig.</a:t>
            </a:r>
            <a:r>
              <a:rPr lang="en" sz="900"/>
              <a:t> Training vs Validation plots for accuracies and losses for            CNN-LSTM</a:t>
            </a:r>
            <a:endParaRPr sz="900"/>
          </a:p>
        </p:txBody>
      </p:sp>
      <p:pic>
        <p:nvPicPr>
          <p:cNvPr id="163" name="Google Shape;163;p23"/>
          <p:cNvPicPr preferRelativeResize="0"/>
          <p:nvPr/>
        </p:nvPicPr>
        <p:blipFill rotWithShape="1">
          <a:blip r:embed="rId3">
            <a:alphaModFix/>
          </a:blip>
          <a:srcRect b="2756" l="0" r="1283" t="1210"/>
          <a:stretch/>
        </p:blipFill>
        <p:spPr>
          <a:xfrm>
            <a:off x="5897314" y="2571750"/>
            <a:ext cx="3171586" cy="185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0400" y="3111005"/>
            <a:ext cx="2854650" cy="141992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 txBox="1"/>
          <p:nvPr/>
        </p:nvSpPr>
        <p:spPr>
          <a:xfrm>
            <a:off x="2610725" y="2571750"/>
            <a:ext cx="298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TABLE IV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PRECISION, RECALL AND F1 SCORES OF 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CNN-LSTM MODEL ON THE GENRES.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166" name="Google Shape;16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8402" y="481450"/>
            <a:ext cx="4710498" cy="185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3"/>
          <p:cNvSpPr txBox="1"/>
          <p:nvPr/>
        </p:nvSpPr>
        <p:spPr>
          <a:xfrm>
            <a:off x="4658275" y="2291750"/>
            <a:ext cx="2757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chemeClr val="dk1"/>
                </a:solidFill>
                <a:highlight>
                  <a:srgbClr val="FFFFFF"/>
                </a:highlight>
              </a:rPr>
              <a:t>Fig.</a:t>
            </a:r>
            <a:r>
              <a:rPr lang="en" sz="950">
                <a:solidFill>
                  <a:schemeClr val="dk1"/>
                </a:solidFill>
                <a:highlight>
                  <a:srgbClr val="FFFFFF"/>
                </a:highlight>
              </a:rPr>
              <a:t> Confusion matrix for CNN-LSTM model</a:t>
            </a:r>
            <a:endParaRPr sz="1800"/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875" y="3023700"/>
            <a:ext cx="2574250" cy="150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17625" y="4745325"/>
            <a:ext cx="9144001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type="ctrTitle"/>
          </p:nvPr>
        </p:nvSpPr>
        <p:spPr>
          <a:xfrm>
            <a:off x="241125" y="62725"/>
            <a:ext cx="8520600" cy="89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4"/>
          <p:cNvSpPr txBox="1"/>
          <p:nvPr>
            <p:ph idx="1" type="subTitle"/>
          </p:nvPr>
        </p:nvSpPr>
        <p:spPr>
          <a:xfrm>
            <a:off x="311700" y="1113600"/>
            <a:ext cx="8520600" cy="25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26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90"/>
              <a:buFont typeface="Times New Roman"/>
              <a:buChar char="●"/>
            </a:pPr>
            <a:r>
              <a:rPr lang="en" sz="17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CRNN models was tested for the task of music genre classification to utilize both the hierarchical spatial features and the temporal relationships of the music data.</a:t>
            </a:r>
            <a:endParaRPr sz="17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90"/>
              <a:buFont typeface="Times New Roman"/>
              <a:buChar char="●"/>
            </a:pPr>
            <a:r>
              <a:rPr lang="en" sz="17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the CRNN models outperformed the CNN [9] model and yielded better testing accuracy on the GTZAN dataset.</a:t>
            </a:r>
            <a:endParaRPr sz="17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90"/>
              <a:buFont typeface="Times New Roman"/>
              <a:buChar char="●"/>
            </a:pPr>
            <a:r>
              <a:rPr lang="en" sz="17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Among the two CRNN models the CNN-LSTM model achieved better results than the CNN-GRU model.</a:t>
            </a:r>
            <a:endParaRPr sz="17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6" name="Google Shape;17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625" y="4745325"/>
            <a:ext cx="9144001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7238" y="2754438"/>
            <a:ext cx="4924425" cy="170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>
            <p:ph type="ctrTitle"/>
          </p:nvPr>
        </p:nvSpPr>
        <p:spPr>
          <a:xfrm>
            <a:off x="241100" y="0"/>
            <a:ext cx="8520600" cy="9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5"/>
          <p:cNvSpPr txBox="1"/>
          <p:nvPr>
            <p:ph idx="1" type="subTitle"/>
          </p:nvPr>
        </p:nvSpPr>
        <p:spPr>
          <a:xfrm>
            <a:off x="186225" y="12735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Model  can be improved </a:t>
            </a:r>
            <a:r>
              <a:rPr lang="en"/>
              <a:t>by using Graph Convolutional Networks and relationships and variations of different genres can be captured.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Better datasets and better features can be used to improve the model.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>
            <p:ph type="ctrTitle"/>
          </p:nvPr>
        </p:nvSpPr>
        <p:spPr>
          <a:xfrm>
            <a:off x="186225" y="101525"/>
            <a:ext cx="8520600" cy="91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6"/>
          <p:cNvSpPr txBox="1"/>
          <p:nvPr>
            <p:ph idx="1" type="subTitle"/>
          </p:nvPr>
        </p:nvSpPr>
        <p:spPr>
          <a:xfrm>
            <a:off x="311700" y="869700"/>
            <a:ext cx="8520600" cy="3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13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r>
              <a:rPr lang="en" sz="74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14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approach towards convolutional recurrent neural networks, available:</a:t>
            </a:r>
            <a:endParaRPr sz="114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4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https://towardsdatascience.com/an-approach-towards-convolutional-</a:t>
            </a:r>
            <a:endParaRPr sz="114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4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recurrent-neural- networks-a2e6ce722b19</a:t>
            </a:r>
            <a:endParaRPr sz="114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1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Basic concepts of cnn, available: https://medium.com/s-a-a-s/dl-basic-</a:t>
            </a:r>
            <a:endParaRPr sz="11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1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concept-of-cnn- 2ef4fc9b039b</a:t>
            </a:r>
            <a:r>
              <a:rPr lang="en" sz="11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1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Deep learning for audio classification, available:</a:t>
            </a:r>
            <a:endParaRPr sz="11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1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11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https://medium.com/analytics- vidhya/deep-learning-audio-</a:t>
            </a:r>
            <a:endParaRPr sz="11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1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Classification-fcbed546a2dd.</a:t>
            </a:r>
            <a:endParaRPr sz="11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154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[4] Explaining pooling layers, available: https://androidkt.com/explain-</a:t>
            </a:r>
            <a:endParaRPr sz="1154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154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pooling-layers- max-pooling-average-pooling-global-average-pooling-</a:t>
            </a:r>
            <a:endParaRPr sz="1154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154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and-global-max-pooling/</a:t>
            </a:r>
            <a:r>
              <a:rPr lang="en" sz="1154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54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154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154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[5] </a:t>
            </a:r>
            <a:r>
              <a:rPr lang="en" sz="113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Gtzan dataset, available: https://www.kaggle.com/datasets/andradaolteanu-</a:t>
            </a:r>
            <a:endParaRPr sz="113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13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/gtzan- dataset-music-genre-classification.</a:t>
            </a:r>
            <a:r>
              <a:rPr lang="en" sz="1154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154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4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[6] Test, train and validation split, available:</a:t>
            </a:r>
            <a:endParaRPr sz="1154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4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https://www.brainstobytes.com/test- training-and-validation-sets/.</a:t>
            </a:r>
            <a:endParaRPr sz="1154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4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[7] Keunwoo Choi, Gy orgy Fazekas, Mark Sandler, and Kyunghyun Cho.</a:t>
            </a:r>
            <a:endParaRPr sz="1154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4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Convolutional recurrent neural networks for music classification. In</a:t>
            </a:r>
            <a:endParaRPr sz="1154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4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2017 IEEE International Conference on Acoustics, Speech and Signal</a:t>
            </a:r>
            <a:endParaRPr sz="1154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54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Processing (ICASSP), pages 2392–2396, 2017.</a:t>
            </a:r>
            <a:endParaRPr sz="1154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[8] Yu-Huei Cheng, Pang-Ching Chang, and Che-Nan Kuo. Convolutional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neural networks approach for music genre classification. In 2020 Inter-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national Symposium on Computer, Consumer and Control (IS3C), pages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399–403, 2020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54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454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121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210"/>
          </a:p>
        </p:txBody>
      </p:sp>
      <p:pic>
        <p:nvPicPr>
          <p:cNvPr id="190" name="Google Shape;19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625" y="4745325"/>
            <a:ext cx="9144001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