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Lst>
  <p:sldSz cy="5143500" cx="9144000"/>
  <p:notesSz cx="6858000" cy="9144000"/>
  <p:embeddedFontLst>
    <p:embeddedFont>
      <p:font typeface="Roboto"/>
      <p:regular r:id="rId12"/>
      <p:bold r:id="rId13"/>
      <p:italic r:id="rId14"/>
      <p:boldItalic r:id="rId1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Roboto-bold.fntdata"/><Relationship Id="rId12"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Roboto-boldItalic.fntdata"/><Relationship Id="rId14" Type="http://schemas.openxmlformats.org/officeDocument/2006/relationships/font" Target="fonts/Robo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f0dfc7c6c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f0dfc7c6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f0dfc7c6cf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f0dfc7c6cf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f0dfc7c6cf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f0dfc7c6cf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f0dfc7c6cf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f0dfc7c6cf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f0dfc7c6c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f0dfc7c6c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Impact of Celebrity on consumers</a:t>
            </a:r>
            <a:endParaRPr/>
          </a:p>
        </p:txBody>
      </p:sp>
      <p:sp>
        <p:nvSpPr>
          <p:cNvPr id="55" name="Google Shape;55;p13"/>
          <p:cNvSpPr txBox="1"/>
          <p:nvPr>
            <p:ph idx="1" type="subTitle"/>
          </p:nvPr>
        </p:nvSpPr>
        <p:spPr>
          <a:xfrm>
            <a:off x="311700" y="2834125"/>
            <a:ext cx="8520600" cy="1899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Submitted by:-</a:t>
            </a:r>
            <a:endParaRPr/>
          </a:p>
          <a:p>
            <a:pPr indent="0" lvl="0" marL="0" rtl="0" algn="ctr">
              <a:spcBef>
                <a:spcPts val="0"/>
              </a:spcBef>
              <a:spcAft>
                <a:spcPts val="0"/>
              </a:spcAft>
              <a:buNone/>
            </a:pPr>
            <a:r>
              <a:rPr lang="en"/>
              <a:t>Mohit Kumar (2017IMG-033)</a:t>
            </a:r>
            <a:endParaRPr/>
          </a:p>
          <a:p>
            <a:pPr indent="0" lvl="0" marL="0" rtl="0" algn="ctr">
              <a:spcBef>
                <a:spcPts val="0"/>
              </a:spcBef>
              <a:spcAft>
                <a:spcPts val="0"/>
              </a:spcAft>
              <a:buNone/>
            </a:pPr>
            <a:r>
              <a:rPr lang="en"/>
              <a:t>Yash Agrawal (2017IMG-061)</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1" name="Google Shape;61;p14"/>
          <p:cNvSpPr txBox="1"/>
          <p:nvPr>
            <p:ph idx="1" type="body"/>
          </p:nvPr>
        </p:nvSpPr>
        <p:spPr>
          <a:xfrm>
            <a:off x="311700" y="1152475"/>
            <a:ext cx="8520600" cy="37893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en"/>
              <a:t>Consumer associate themselves with their ideals/ celebrities which in turn are associated with brand(s), so consumers begin liking the brand.</a:t>
            </a:r>
            <a:endParaRPr/>
          </a:p>
          <a:p>
            <a:pPr indent="-342900" lvl="0" marL="457200" rtl="0" algn="l">
              <a:spcBef>
                <a:spcPts val="0"/>
              </a:spcBef>
              <a:spcAft>
                <a:spcPts val="0"/>
              </a:spcAft>
              <a:buSzPts val="1800"/>
              <a:buChar char="●"/>
            </a:pPr>
            <a:r>
              <a:rPr lang="en"/>
              <a:t>Consumers are provoked to buy the product.</a:t>
            </a:r>
            <a:endParaRPr/>
          </a:p>
          <a:p>
            <a:pPr indent="-342900" lvl="0" marL="457200" rtl="0" algn="l">
              <a:spcBef>
                <a:spcPts val="0"/>
              </a:spcBef>
              <a:spcAft>
                <a:spcPts val="0"/>
              </a:spcAft>
              <a:buSzPts val="1800"/>
              <a:buChar char="●"/>
            </a:pPr>
            <a:r>
              <a:rPr lang="en"/>
              <a:t>Another side of coin: if brand is not satisfying the consumer, he may begin disliking the celebrity. Or if product delights the customer, he may begin liking the celebrity.</a:t>
            </a:r>
            <a:endParaRPr/>
          </a:p>
          <a:p>
            <a:pPr indent="-342900" lvl="0" marL="457200" rtl="0" algn="l">
              <a:spcBef>
                <a:spcPts val="0"/>
              </a:spcBef>
              <a:spcAft>
                <a:spcPts val="0"/>
              </a:spcAft>
              <a:buSzPts val="1800"/>
              <a:buChar char="●"/>
            </a:pPr>
            <a:r>
              <a:rPr lang="en"/>
              <a:t>Some typical examples are:</a:t>
            </a:r>
            <a:endParaRPr/>
          </a:p>
          <a:p>
            <a:pPr indent="-342900" lvl="0" marL="457200" rtl="0" algn="l">
              <a:spcBef>
                <a:spcPts val="0"/>
              </a:spcBef>
              <a:spcAft>
                <a:spcPts val="0"/>
              </a:spcAft>
              <a:buSzPts val="1800"/>
              <a:buChar char="●"/>
            </a:pPr>
            <a:r>
              <a:rPr lang="en"/>
              <a:t>Amitabh Bachhan for Ghari (“pehle istemal kare, fir vishwas kare”).</a:t>
            </a:r>
            <a:endParaRPr/>
          </a:p>
          <a:p>
            <a:pPr indent="-342900" lvl="0" marL="457200" rtl="0" algn="l">
              <a:spcBef>
                <a:spcPts val="0"/>
              </a:spcBef>
              <a:spcAft>
                <a:spcPts val="0"/>
              </a:spcAft>
              <a:buSzPts val="1800"/>
              <a:buChar char="●"/>
            </a:pPr>
            <a:r>
              <a:rPr lang="en"/>
              <a:t>Shahrukh Khan for Byju’s (“keep learning”).</a:t>
            </a:r>
            <a:endParaRPr/>
          </a:p>
          <a:p>
            <a:pPr indent="-342900" lvl="0" marL="457200" rtl="0" algn="l">
              <a:spcBef>
                <a:spcPts val="0"/>
              </a:spcBef>
              <a:spcAft>
                <a:spcPts val="0"/>
              </a:spcAft>
              <a:buSzPts val="1800"/>
              <a:buChar char="●"/>
            </a:pPr>
            <a:r>
              <a:rPr lang="en"/>
              <a:t>Salman Khan for Goldee masale (“Jaha bhi jaye, rishte banaye”).</a:t>
            </a:r>
            <a:endParaRPr/>
          </a:p>
          <a:p>
            <a:pPr indent="-342900" lvl="0" marL="457200" rtl="0" algn="l">
              <a:spcBef>
                <a:spcPts val="0"/>
              </a:spcBef>
              <a:spcAft>
                <a:spcPts val="0"/>
              </a:spcAft>
              <a:buSzPts val="1800"/>
              <a:buChar char="●"/>
            </a:pPr>
            <a:r>
              <a:rPr lang="en"/>
              <a:t>Kiara Advani for Myntra (“that’s why we are the fashion expert”).</a:t>
            </a:r>
            <a:endParaRPr/>
          </a:p>
          <a:p>
            <a:pPr indent="-342900" lvl="0" marL="457200" rtl="0" algn="l">
              <a:spcBef>
                <a:spcPts val="0"/>
              </a:spcBef>
              <a:spcAft>
                <a:spcPts val="0"/>
              </a:spcAft>
              <a:buSzPts val="1800"/>
              <a:buChar char="●"/>
            </a:pPr>
            <a:r>
              <a:rPr lang="en"/>
              <a:t>Ajay devgan for Vimal pan masala (“bolo jubaan kesari”).</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a:t>
            </a:r>
            <a:endParaRPr/>
          </a:p>
        </p:txBody>
      </p:sp>
      <p:sp>
        <p:nvSpPr>
          <p:cNvPr id="67" name="Google Shape;67;p15"/>
          <p:cNvSpPr txBox="1"/>
          <p:nvPr>
            <p:ph idx="1" type="body"/>
          </p:nvPr>
        </p:nvSpPr>
        <p:spPr>
          <a:xfrm>
            <a:off x="311700" y="1152475"/>
            <a:ext cx="8520600" cy="38928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SzPct val="100000"/>
              <a:buChar char="●"/>
            </a:pPr>
            <a:r>
              <a:rPr lang="en"/>
              <a:t>Celebrity Endorsed Advertising aims to give something new, creative and useful to get long term benefits of brand loyalty and image building of product and company by establishing an emotional relationship and persuasion for buying product.</a:t>
            </a:r>
            <a:endParaRPr/>
          </a:p>
          <a:p>
            <a:pPr indent="-334328" lvl="0" marL="457200" rtl="0" algn="l">
              <a:spcBef>
                <a:spcPts val="0"/>
              </a:spcBef>
              <a:spcAft>
                <a:spcPts val="0"/>
              </a:spcAft>
              <a:buSzPct val="100000"/>
              <a:buChar char="●"/>
            </a:pPr>
            <a:r>
              <a:rPr lang="en"/>
              <a:t>Selecting a celebrity for product, also indicates that company wants to target a particular segment (which have some similar cultural and social values) and position itself as supreme in that category of product in mind, heart and </a:t>
            </a:r>
            <a:r>
              <a:rPr lang="en"/>
              <a:t>spirit of consumers.</a:t>
            </a:r>
            <a:endParaRPr/>
          </a:p>
          <a:p>
            <a:pPr indent="-334328" lvl="0" marL="457200" rtl="0" algn="l">
              <a:spcBef>
                <a:spcPts val="0"/>
              </a:spcBef>
              <a:spcAft>
                <a:spcPts val="0"/>
              </a:spcAft>
              <a:buSzPct val="100000"/>
              <a:buChar char="●"/>
            </a:pPr>
            <a:r>
              <a:rPr lang="en"/>
              <a:t>It brings positive involvement of consumers and so consumers learn more and are persuaded more rapidly about product advertised.</a:t>
            </a:r>
            <a:endParaRPr/>
          </a:p>
          <a:p>
            <a:pPr indent="-334328" lvl="0" marL="457200" rtl="0" algn="l">
              <a:spcBef>
                <a:spcPts val="0"/>
              </a:spcBef>
              <a:spcAft>
                <a:spcPts val="0"/>
              </a:spcAft>
              <a:buSzPct val="100000"/>
              <a:buChar char="●"/>
            </a:pPr>
            <a:r>
              <a:rPr lang="en"/>
              <a:t>Endorsing right celebrity gives some authentication about quality of product. Status conscious people (who are everywhere) and fans are affected very much by celebrity endorsed ads.</a:t>
            </a:r>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History</a:t>
            </a:r>
            <a:endParaRPr/>
          </a:p>
        </p:txBody>
      </p:sp>
      <p:sp>
        <p:nvSpPr>
          <p:cNvPr id="73" name="Google Shape;73;p16"/>
          <p:cNvSpPr txBox="1"/>
          <p:nvPr>
            <p:ph idx="1" type="body"/>
          </p:nvPr>
        </p:nvSpPr>
        <p:spPr>
          <a:xfrm>
            <a:off x="311700" y="1152475"/>
            <a:ext cx="8520600" cy="39021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SzPts val="1800"/>
              <a:buChar char="●"/>
            </a:pPr>
            <a:r>
              <a:rPr lang="en"/>
              <a:t>Advertisement began in egypt, then greece and rome and then </a:t>
            </a:r>
            <a:r>
              <a:rPr lang="en"/>
              <a:t>gradually in whole world</a:t>
            </a:r>
            <a:endParaRPr/>
          </a:p>
          <a:p>
            <a:pPr indent="-342900" lvl="0" marL="457200" rtl="0" algn="l">
              <a:spcBef>
                <a:spcPts val="0"/>
              </a:spcBef>
              <a:spcAft>
                <a:spcPts val="0"/>
              </a:spcAft>
              <a:buSzPts val="1800"/>
              <a:buChar char="●"/>
            </a:pPr>
            <a:r>
              <a:rPr lang="en"/>
              <a:t>First outdoor advertisement was practiced by bill-boards etc. then gradually came newspaper, radio advertisement and now with advancement of technology, television advertisement;</a:t>
            </a:r>
            <a:endParaRPr/>
          </a:p>
          <a:p>
            <a:pPr indent="-342900" lvl="0" marL="457200" rtl="0" algn="l">
              <a:spcBef>
                <a:spcPts val="0"/>
              </a:spcBef>
              <a:spcAft>
                <a:spcPts val="0"/>
              </a:spcAft>
              <a:buSzPts val="1800"/>
              <a:buChar char="●"/>
            </a:pPr>
            <a:r>
              <a:rPr lang="en"/>
              <a:t>In television ads, first there used to be only products, but consumers found researchers found that some advertisers over appreciated their product and as a result consumer was made fool.</a:t>
            </a:r>
            <a:endParaRPr/>
          </a:p>
          <a:p>
            <a:pPr indent="-342900" lvl="0" marL="457200" rtl="0" algn="l">
              <a:spcBef>
                <a:spcPts val="0"/>
              </a:spcBef>
              <a:spcAft>
                <a:spcPts val="0"/>
              </a:spcAft>
              <a:buSzPts val="1800"/>
              <a:buChar char="●"/>
            </a:pPr>
            <a:r>
              <a:rPr lang="en"/>
              <a:t>As a result, slowly celebrities came in show, winning consumers trust, that the product is reliable.</a:t>
            </a:r>
            <a:endParaRPr/>
          </a:p>
          <a:p>
            <a:pPr indent="-342900" lvl="0" marL="457200" rtl="0" algn="l">
              <a:spcBef>
                <a:spcPts val="0"/>
              </a:spcBef>
              <a:spcAft>
                <a:spcPts val="0"/>
              </a:spcAft>
              <a:buSzPts val="1800"/>
              <a:buChar char="●"/>
            </a:pPr>
            <a:r>
              <a:rPr lang="en"/>
              <a:t>Featuring celebrities on ads along with product and tagline, in order to gain maximum influence on customers is both an art and science (whether celebrity should be on left…), which is advancing at a lightning pace.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0"/>
              </a:spcBef>
              <a:spcAft>
                <a:spcPts val="0"/>
              </a:spcAft>
              <a:buClr>
                <a:schemeClr val="dk1"/>
              </a:buClr>
              <a:buSzPct val="42950"/>
              <a:buFont typeface="Arial"/>
              <a:buNone/>
            </a:pPr>
            <a:r>
              <a:rPr lang="en" sz="2561">
                <a:solidFill>
                  <a:srgbClr val="0A0A0A"/>
                </a:solidFill>
                <a:highlight>
                  <a:srgbClr val="FFFFFF"/>
                </a:highlight>
                <a:latin typeface="Roboto"/>
                <a:ea typeface="Roboto"/>
                <a:cs typeface="Roboto"/>
                <a:sym typeface="Roboto"/>
              </a:rPr>
              <a:t>Adidas</a:t>
            </a:r>
            <a:endParaRPr sz="2561">
              <a:solidFill>
                <a:srgbClr val="0A0A0A"/>
              </a:solidFill>
              <a:highlight>
                <a:srgbClr val="FFFFFF"/>
              </a:highlight>
              <a:latin typeface="Roboto"/>
              <a:ea typeface="Roboto"/>
              <a:cs typeface="Roboto"/>
              <a:sym typeface="Roboto"/>
            </a:endParaRPr>
          </a:p>
          <a:p>
            <a:pPr indent="0" lvl="0" marL="0" rtl="0" algn="l">
              <a:lnSpc>
                <a:spcPct val="115000"/>
              </a:lnSpc>
              <a:spcBef>
                <a:spcPts val="2100"/>
              </a:spcBef>
              <a:spcAft>
                <a:spcPts val="0"/>
              </a:spcAft>
              <a:buClr>
                <a:schemeClr val="dk1"/>
              </a:buClr>
              <a:buSzPct val="100000"/>
              <a:buFont typeface="Arial"/>
              <a:buNone/>
            </a:pPr>
            <a:r>
              <a:t/>
            </a:r>
            <a:endParaRPr sz="1100"/>
          </a:p>
          <a:p>
            <a:pPr indent="0" lvl="0" marL="0" rtl="0" algn="l">
              <a:spcBef>
                <a:spcPts val="0"/>
              </a:spcBef>
              <a:spcAft>
                <a:spcPts val="0"/>
              </a:spcAft>
              <a:buNone/>
            </a:pPr>
            <a:r>
              <a:t/>
            </a:r>
            <a:endParaRPr/>
          </a:p>
        </p:txBody>
      </p:sp>
      <p:sp>
        <p:nvSpPr>
          <p:cNvPr id="79" name="Google Shape;79;p17"/>
          <p:cNvSpPr txBox="1"/>
          <p:nvPr>
            <p:ph idx="1" type="body"/>
          </p:nvPr>
        </p:nvSpPr>
        <p:spPr>
          <a:xfrm>
            <a:off x="210700" y="3996175"/>
            <a:ext cx="8621700" cy="1147200"/>
          </a:xfrm>
          <a:prstGeom prst="rect">
            <a:avLst/>
          </a:prstGeom>
        </p:spPr>
        <p:txBody>
          <a:bodyPr anchorCtr="0" anchor="t" bIns="91425" lIns="91425" spcFirstLastPara="1" rIns="91425" wrap="square" tIns="91425">
            <a:normAutofit lnSpcReduction="10000"/>
          </a:bodyPr>
          <a:lstStyle/>
          <a:p>
            <a:pPr indent="-320675" lvl="0" marL="457200" rtl="0" algn="l">
              <a:spcBef>
                <a:spcPts val="0"/>
              </a:spcBef>
              <a:spcAft>
                <a:spcPts val="0"/>
              </a:spcAft>
              <a:buClr>
                <a:srgbClr val="0A0A0A"/>
              </a:buClr>
              <a:buSzPts val="1450"/>
              <a:buFont typeface="Roboto"/>
              <a:buChar char="●"/>
            </a:pPr>
            <a:r>
              <a:rPr lang="en" sz="1450">
                <a:solidFill>
                  <a:srgbClr val="0A0A0A"/>
                </a:solidFill>
                <a:highlight>
                  <a:srgbClr val="FFFFFF"/>
                </a:highlight>
                <a:latin typeface="Roboto"/>
                <a:ea typeface="Roboto"/>
                <a:cs typeface="Roboto"/>
                <a:sym typeface="Roboto"/>
              </a:rPr>
              <a:t>Lionel Messi’s picture initially attracts the consumer, the intended audience being sports (especially football) enthusiasts.</a:t>
            </a:r>
            <a:endParaRPr sz="1450">
              <a:solidFill>
                <a:srgbClr val="0A0A0A"/>
              </a:solidFill>
              <a:highlight>
                <a:srgbClr val="FFFFFF"/>
              </a:highlight>
              <a:latin typeface="Roboto"/>
              <a:ea typeface="Roboto"/>
              <a:cs typeface="Roboto"/>
              <a:sym typeface="Roboto"/>
            </a:endParaRPr>
          </a:p>
          <a:p>
            <a:pPr indent="-320675" lvl="0" marL="457200" rtl="0" algn="l">
              <a:spcBef>
                <a:spcPts val="0"/>
              </a:spcBef>
              <a:spcAft>
                <a:spcPts val="0"/>
              </a:spcAft>
              <a:buClr>
                <a:srgbClr val="0A0A0A"/>
              </a:buClr>
              <a:buSzPts val="1450"/>
              <a:buFont typeface="Roboto"/>
              <a:buChar char="●"/>
            </a:pPr>
            <a:r>
              <a:rPr lang="en" sz="1450">
                <a:solidFill>
                  <a:srgbClr val="0A0A0A"/>
                </a:solidFill>
                <a:highlight>
                  <a:srgbClr val="FFFFFF"/>
                </a:highlight>
                <a:latin typeface="Roboto"/>
                <a:ea typeface="Roboto"/>
                <a:cs typeface="Roboto"/>
                <a:sym typeface="Roboto"/>
              </a:rPr>
              <a:t>The contrasting colours of the shoe and matching caption convey that it’s a shoe advertisement.</a:t>
            </a:r>
            <a:endParaRPr sz="1450">
              <a:solidFill>
                <a:srgbClr val="0A0A0A"/>
              </a:solidFill>
              <a:highlight>
                <a:srgbClr val="FFFFFF"/>
              </a:highlight>
              <a:latin typeface="Roboto"/>
              <a:ea typeface="Roboto"/>
              <a:cs typeface="Roboto"/>
              <a:sym typeface="Roboto"/>
            </a:endParaRPr>
          </a:p>
          <a:p>
            <a:pPr indent="-320675" lvl="0" marL="457200" rtl="0" algn="l">
              <a:spcBef>
                <a:spcPts val="0"/>
              </a:spcBef>
              <a:spcAft>
                <a:spcPts val="0"/>
              </a:spcAft>
              <a:buClr>
                <a:srgbClr val="0A0A0A"/>
              </a:buClr>
              <a:buSzPts val="1450"/>
              <a:buFont typeface="Roboto"/>
              <a:buChar char="●"/>
            </a:pPr>
            <a:r>
              <a:rPr lang="en" sz="1450">
                <a:solidFill>
                  <a:srgbClr val="0A0A0A"/>
                </a:solidFill>
                <a:highlight>
                  <a:srgbClr val="FFFFFF"/>
                </a:highlight>
                <a:latin typeface="Roboto"/>
                <a:ea typeface="Roboto"/>
                <a:cs typeface="Roboto"/>
                <a:sym typeface="Roboto"/>
              </a:rPr>
              <a:t>The shoe appears to be emitting sparks (representing fast performance)</a:t>
            </a:r>
            <a:endParaRPr sz="1450">
              <a:solidFill>
                <a:srgbClr val="0A0A0A"/>
              </a:solidFill>
              <a:highlight>
                <a:srgbClr val="FFFFFF"/>
              </a:highlight>
              <a:latin typeface="Roboto"/>
              <a:ea typeface="Roboto"/>
              <a:cs typeface="Roboto"/>
              <a:sym typeface="Roboto"/>
            </a:endParaRPr>
          </a:p>
        </p:txBody>
      </p:sp>
      <p:pic>
        <p:nvPicPr>
          <p:cNvPr id="80" name="Google Shape;80;p17"/>
          <p:cNvPicPr preferRelativeResize="0"/>
          <p:nvPr/>
        </p:nvPicPr>
        <p:blipFill>
          <a:blip r:embed="rId3">
            <a:alphaModFix/>
          </a:blip>
          <a:stretch>
            <a:fillRect/>
          </a:stretch>
        </p:blipFill>
        <p:spPr>
          <a:xfrm>
            <a:off x="2466404" y="373254"/>
            <a:ext cx="4449450" cy="33353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 “Bs zara sa LUX”.</a:t>
            </a:r>
            <a:endParaRPr/>
          </a:p>
        </p:txBody>
      </p:sp>
      <p:sp>
        <p:nvSpPr>
          <p:cNvPr id="86" name="Google Shape;86;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LUX involves more bollywood </a:t>
            </a:r>
            <a:r>
              <a:rPr lang="en"/>
              <a:t>celebrity</a:t>
            </a:r>
            <a:r>
              <a:rPr lang="en"/>
              <a:t> because is habituate to see LUX with young and fashionab</a:t>
            </a:r>
            <a:r>
              <a:rPr lang="en"/>
              <a:t>le </a:t>
            </a:r>
            <a:r>
              <a:rPr lang="en"/>
              <a:t>celebrity</a:t>
            </a:r>
            <a:r>
              <a:rPr lang="en"/>
              <a:t> </a:t>
            </a:r>
            <a:endParaRPr/>
          </a:p>
          <a:p>
            <a:pPr indent="0" lvl="0" marL="0" rtl="0" algn="l">
              <a:spcBef>
                <a:spcPts val="1200"/>
              </a:spcBef>
              <a:spcAft>
                <a:spcPts val="1200"/>
              </a:spcAft>
              <a:buNone/>
            </a:pPr>
            <a:r>
              <a:t/>
            </a:r>
            <a:endParaRPr/>
          </a:p>
        </p:txBody>
      </p:sp>
      <p:pic>
        <p:nvPicPr>
          <p:cNvPr id="87" name="Google Shape;87;p18"/>
          <p:cNvPicPr preferRelativeResize="0"/>
          <p:nvPr/>
        </p:nvPicPr>
        <p:blipFill rotWithShape="1">
          <a:blip r:embed="rId3">
            <a:alphaModFix/>
          </a:blip>
          <a:srcRect b="10269" l="18328" r="18144" t="14282"/>
          <a:stretch/>
        </p:blipFill>
        <p:spPr>
          <a:xfrm>
            <a:off x="4393125" y="1639950"/>
            <a:ext cx="4103549" cy="274012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